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Unbounded"/>
      <p:regular r:id="rId17"/>
    </p:embeddedFont>
    <p:embeddedFont>
      <p:font typeface="Unbounded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Data Report · April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9292"/>
            <a:ext cx="6450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75046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496145" y="3306842"/>
            <a:ext cx="29748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Customers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79726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transaction records analyzed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27504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$59.76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019818" y="3306842"/>
            <a:ext cx="32537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Average Purchase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79726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USD per transaction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727138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3.75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5758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Review Rating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24935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 of 5 stars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4727138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18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5758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24935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Demographics, purchases, behavior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8674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spans multiple product categories, demographics, and seasonal patterns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67441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by Gender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3817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57412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E3E33"/>
          </a:solidFill>
          <a:ln/>
        </p:spPr>
      </p:sp>
      <p:sp>
        <p:nvSpPr>
          <p:cNvPr id="5" name="Text 2"/>
          <p:cNvSpPr/>
          <p:nvPr/>
        </p:nvSpPr>
        <p:spPr>
          <a:xfrm>
            <a:off x="4345186" y="6731913"/>
            <a:ext cx="51446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012055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DC5A1"/>
          </a:solidFill>
          <a:ln/>
        </p:spPr>
      </p:sp>
      <p:sp>
        <p:nvSpPr>
          <p:cNvPr id="7" name="Text 4"/>
          <p:cNvSpPr/>
          <p:nvPr/>
        </p:nvSpPr>
        <p:spPr>
          <a:xfrm>
            <a:off x="5299829" y="6731913"/>
            <a:ext cx="7647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38943" y="3350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38943" y="3931801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 67.7% of revenue vs. 32.3% for females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38943" y="4861679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Opportunity: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Female customer acquisition represents untapped revenue potential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23" y="159425"/>
            <a:ext cx="5273754" cy="7910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0660" y="646271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 Performance Insights</a:t>
            </a:r>
            <a:endParaRPr lang="en-US" sz="4150" dirty="0"/>
          </a:p>
        </p:txBody>
      </p:sp>
      <p:sp>
        <p:nvSpPr>
          <p:cNvPr id="5" name="Shape 2"/>
          <p:cNvSpPr/>
          <p:nvPr/>
        </p:nvSpPr>
        <p:spPr>
          <a:xfrm>
            <a:off x="6230660" y="2274213"/>
            <a:ext cx="3728085" cy="3050619"/>
          </a:xfrm>
          <a:prstGeom prst="roundRect">
            <a:avLst>
              <a:gd name="adj" fmla="val 292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50925" y="2494478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26A6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6304" y="2669857"/>
            <a:ext cx="287060" cy="2870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0925" y="3331726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Rated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6450925" y="3783568"/>
            <a:ext cx="328755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Sandals (3.82 avg) lead footwear and accessories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10158055" y="2274213"/>
            <a:ext cx="3728085" cy="3050619"/>
          </a:xfrm>
          <a:prstGeom prst="roundRect">
            <a:avLst>
              <a:gd name="adj" fmla="val 292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78321" y="2494478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26A6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53700" y="2669857"/>
            <a:ext cx="287060" cy="2870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78321" y="3331726"/>
            <a:ext cx="3287554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Discount Dependency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10378321" y="4115872"/>
            <a:ext cx="3287554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Hats (50%) and Sneakers (49.66%) rely heavily on discounts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6230660" y="5524143"/>
            <a:ext cx="7655481" cy="2059186"/>
          </a:xfrm>
          <a:prstGeom prst="roundRect">
            <a:avLst>
              <a:gd name="adj" fmla="val 433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50925" y="5744408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26A68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6304" y="5919788"/>
            <a:ext cx="287060" cy="2870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50925" y="6581656"/>
            <a:ext cx="2730341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Shipping Impact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6450925" y="7033498"/>
            <a:ext cx="7214949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users spend 3.5% more on average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498"/>
            <a:ext cx="104290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Subscription Status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38625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26.7%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1968579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56543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Subscribed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14481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1,053 customers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38625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73.3%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1968579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56543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Unsubscribed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14481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2,847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38625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72.4%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1968579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5654397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Repeat Buyers Unsubscribed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49914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Among &gt;5 purchases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71171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 nearly identical: $59.87 (non-subscribers) vs. $59.49 (subscribers)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1397"/>
            <a:ext cx="88199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1863804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479834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090618"/>
            <a:ext cx="15350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2581037"/>
            <a:ext cx="153507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&gt;10 purchases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183850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BCDBD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227427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368153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454241"/>
            <a:ext cx="17529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3944660"/>
            <a:ext cx="1752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2-10 purchases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4547473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BCDBD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4591050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045154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4817864"/>
            <a:ext cx="11678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308283"/>
            <a:ext cx="11678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purchase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379964"/>
            <a:ext cx="33653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Strong Foundation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93790" y="69611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79.9% loyal customers (3,116)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599521" y="63799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Critical Gap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599521" y="69611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2.1% new customers (83)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441603"/>
            <a:ext cx="5958721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Seasonal Revenue Trends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677" y="1102043"/>
            <a:ext cx="10271046" cy="57516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79677" y="6963608"/>
            <a:ext cx="10271046" cy="824389"/>
          </a:xfrm>
          <a:prstGeom prst="roundRect">
            <a:avLst>
              <a:gd name="adj" fmla="val 7584"/>
            </a:avLst>
          </a:prstGeom>
          <a:solidFill>
            <a:srgbClr val="FCF2B5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05" y="7118509"/>
            <a:ext cx="232529" cy="185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09863" y="7098387"/>
            <a:ext cx="204918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Summer Collapse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2709863" y="7428548"/>
            <a:ext cx="9592032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91% drop from Fall peak — critical revenue recovery opportunity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4231"/>
            <a:ext cx="112953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Age Group Revenue Distribution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39985"/>
            <a:ext cx="5039439" cy="283488"/>
          </a:xfrm>
          <a:prstGeom prst="roundRect">
            <a:avLst>
              <a:gd name="adj" fmla="val 3360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2739985"/>
            <a:ext cx="1340406" cy="283488"/>
          </a:xfrm>
          <a:prstGeom prst="roundRect">
            <a:avLst>
              <a:gd name="adj" fmla="val 33606"/>
            </a:avLst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6003250" y="2739985"/>
            <a:ext cx="117014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26.6%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Young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79726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$62,143 revenue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2739985"/>
            <a:ext cx="5054918" cy="283488"/>
          </a:xfrm>
          <a:prstGeom prst="roundRect">
            <a:avLst>
              <a:gd name="adj" fmla="val 3360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6884" y="2739985"/>
            <a:ext cx="1278850" cy="283488"/>
          </a:xfrm>
          <a:prstGeom prst="roundRect">
            <a:avLst>
              <a:gd name="adj" fmla="val 33606"/>
            </a:avLst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12681823" y="2739985"/>
            <a:ext cx="115478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25.3%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Middle-Aged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6884" y="379726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$59,197 revenue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727138"/>
            <a:ext cx="5043130" cy="283488"/>
          </a:xfrm>
          <a:prstGeom prst="roundRect">
            <a:avLst>
              <a:gd name="adj" fmla="val 3360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790" y="4727138"/>
            <a:ext cx="1205270" cy="283488"/>
          </a:xfrm>
          <a:prstGeom prst="roundRect">
            <a:avLst>
              <a:gd name="adj" fmla="val 33606"/>
            </a:avLst>
          </a:prstGeom>
          <a:solidFill>
            <a:srgbClr val="26A688"/>
          </a:solidFill>
          <a:ln/>
        </p:spPr>
      </p:sp>
      <p:sp>
        <p:nvSpPr>
          <p:cNvPr id="15" name="Text 13"/>
          <p:cNvSpPr/>
          <p:nvPr/>
        </p:nvSpPr>
        <p:spPr>
          <a:xfrm>
            <a:off x="6006941" y="4727138"/>
            <a:ext cx="116645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23.9%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293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Adult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3790" y="578441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$55,978 revenue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56884" y="4727138"/>
            <a:ext cx="5030867" cy="283488"/>
          </a:xfrm>
          <a:prstGeom prst="roundRect">
            <a:avLst>
              <a:gd name="adj" fmla="val 3360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6884" y="4727138"/>
            <a:ext cx="1197293" cy="283488"/>
          </a:xfrm>
          <a:prstGeom prst="roundRect">
            <a:avLst>
              <a:gd name="adj" fmla="val 33606"/>
            </a:avLst>
          </a:prstGeom>
          <a:solidFill>
            <a:srgbClr val="26A688"/>
          </a:solidFill>
          <a:ln/>
        </p:spPr>
      </p:sp>
      <p:sp>
        <p:nvSpPr>
          <p:cNvPr id="20" name="Text 18"/>
          <p:cNvSpPr/>
          <p:nvPr/>
        </p:nvSpPr>
        <p:spPr>
          <a:xfrm>
            <a:off x="12657773" y="4727138"/>
            <a:ext cx="117883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23.8%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56884" y="5293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Senior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6884" y="578441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$55,763 revenue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64024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Near-equal spread confirms strong cross-generational appeal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6811"/>
            <a:ext cx="84582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Product Categories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9218"/>
            <a:ext cx="6407944" cy="2263378"/>
          </a:xfrm>
          <a:prstGeom prst="roundRect">
            <a:avLst>
              <a:gd name="adj" fmla="val 420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5536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Clothing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04407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$103K revenue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3543062"/>
            <a:ext cx="593907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Blouse, Pants, Shirt lead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44% of total revenue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319218"/>
            <a:ext cx="6408063" cy="2263378"/>
          </a:xfrm>
          <a:prstGeom prst="roundRect">
            <a:avLst>
              <a:gd name="adj" fmla="val 420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25536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Accessories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3044071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$73K revenue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2982" y="3543062"/>
            <a:ext cx="5939195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Jewelry: 171 orders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cross-sell potential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2263378"/>
          </a:xfrm>
          <a:prstGeom prst="roundRect">
            <a:avLst>
              <a:gd name="adj" fmla="val 420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224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Footwear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8224" y="553426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$36K revenue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28224" y="6033254"/>
            <a:ext cx="593907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Sandals: 160 orders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discount dependency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263378"/>
          </a:xfrm>
          <a:prstGeom prst="roundRect">
            <a:avLst>
              <a:gd name="adj" fmla="val 420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Outerwear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53426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$18K revenue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62982" y="6033254"/>
            <a:ext cx="5939195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Jacket: 163 orders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Underperforming category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8879"/>
            <a:ext cx="68065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Strategic Priorities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7128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6331"/>
            <a:ext cx="4196358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20063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Summer Product Strategy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04538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 91% seasonal drop — Critical, Immediate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7128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6331"/>
            <a:ext cx="4196358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20063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Subscription Conversion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04538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repeat buyers — High, 0-3 months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7128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6331"/>
            <a:ext cx="4196358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20063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Free Shipping Threshold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04538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$75+ minimum — High, 0-1 month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6802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23071"/>
            <a:ext cx="64079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697379"/>
            <a:ext cx="40675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Discount Policy Review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18779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Fix Hat/Sneaker pricing — High, 1-2 months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6802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23071"/>
            <a:ext cx="64079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697379"/>
            <a:ext cx="47280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New Customer Acquisition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18779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campaigns — High, 1-3 months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2026-04-15T08:54:31Z</dcterms:created>
  <dcterms:modified xsi:type="dcterms:W3CDTF">2026-04-15T08:54:31Z</dcterms:modified>
</cp:coreProperties>
</file>